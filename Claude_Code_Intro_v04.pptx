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31"/>
    <p:sldId id="263" r:id="rId9"/>
    <p:sldId id="264" r:id="rId10"/>
    <p:sldId id="265" r:id="rId11"/>
    <p:sldId id="266" r:id="rId12"/>
    <p:sldId id="267" r:id="rId13"/>
    <p:sldId id="281" r:id="rId32"/>
    <p:sldId id="268" r:id="rId14"/>
    <p:sldId id="269" r:id="rId15"/>
    <p:sldId id="270" r:id="rId16"/>
    <p:sldId id="271" r:id="rId17"/>
    <p:sldId id="279" r:id="rId30"/>
    <p:sldId id="272" r:id="rId18"/>
    <p:sldId id="282" r:id="rId33"/>
    <p:sldId id="273" r:id="rId19"/>
    <p:sldId id="274" r:id="rId20"/>
    <p:sldId id="275" r:id="rId21"/>
    <p:sldId id="276" r:id="rId22"/>
    <p:sldId id="278" r:id="rId29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0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06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plugins-referenc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common-workflow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setup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command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interactive-mod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permission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memory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.claude.com/docs/en/memory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memory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.claude.com/docs/en/memory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skill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tools-reference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tools-reference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sub-agents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hooks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.claude.com/docs/en/hook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plugin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discover-plugins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/en/plugins-reference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ode.claude.com/docs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.claude.com/docs/en/plugins-reference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nthropics/claude-code/tree/main/plugins/pr-review-toolkit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.claude.com/docs/en/cli-reference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.claude.com/docs/en/memory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.claude.com/docs/en/hoo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0"/>
            <a:ext cx="365760" cy="68580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TECH SHARING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Kilo Code 到 Claude Code — 團隊工具切換指南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5852160"/>
            <a:ext cx="5486400" cy="0"/>
          </a:xfrm>
          <a:prstGeom prst="line">
            <a:avLst/>
          </a:prstGeom>
          <a:noFill/>
          <a:ln w="25400">
            <a:solidFill>
              <a:srgbClr val="FF8A3D"/>
            </a:solidFill>
            <a:prstDash val="solid"/>
          </a:ln>
        </p:spPr>
      </p:sp>
      <p:sp>
        <p:nvSpPr>
          <p:cNvPr id="8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Claude Code 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今天的八個章節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299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29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 Code vs Claude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兩者最主要差別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0299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29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如何安裝 Claude Code CLI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安裝步驟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6440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64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2278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基本指令使用方式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 Kilo Code 功能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0632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26440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264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32278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管理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Auto Memory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49884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98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44622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/ Skills / MCP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三種擴充方式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2976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49884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498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78040" y="44622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Tools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內建工具 + LSP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5321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73328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733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17320" y="5696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 / Hooks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17320" y="6080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並行委派與自動化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55321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573328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5733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178040" y="5696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78040" y="6080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安裝與熱門 Plugin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Claude Code CLI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900" dirty="0"/>
          </a:p>
        </p:txBody>
      </p:sp>
      <p:sp>
        <p:nvSpPr>
          <p:cNvPr id="47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Claude Code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 Code vs Claude Code — 擴充功能支援度對照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兩者都能寫 code, 真正的差異在「可以怎麼客製化、怎麼擴充」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8620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2103120"/>
            <a:ext cx="3977640" cy="7315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6680" y="2103120"/>
            <a:ext cx="3977640" cy="7315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把常用 prompt 包成 / 指令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2606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2606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.kilocode/commands/*.md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YAML frontmatter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2606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3880" y="2606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.claude/commands/*.md</a:t>
            </a:r>
            <a:r>
              <a:rPr lang="zh-TW" alt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(legacy)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現在也可視為</a:t>
            </a: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skills</a:t>
            </a:r>
            <a:r>
              <a:rPr lang="zh-TW" alt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為 </a:t>
            </a: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元件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11247120" cy="50292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寫的技能, AI 自動觸發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31089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31089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~/.kilocode/skills/&lt;n&gt;/SKILL.md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自動觸發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18120" y="31089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83880" y="31089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~/.claude/skills/&lt;n&gt;/SKILL.md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plugin marketplace 分發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context 的子代理, 委派任務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0" y="36118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06240" y="3611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kilo.jsonc 或 markdown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@agent-name 手動 / 自動委派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18120" y="36118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83880" y="3611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.claude/agents/&lt;name&gt;.md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Explore / Plan / general-purpose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(lifecycle)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4389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在事件發生時自動跑你的 script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0" y="41148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206240" y="4114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可用規則/指令模擬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Claude Code 類 lifecycle hooks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18120" y="41148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83880" y="4114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種 lifecycle event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可由 settings / skills / agents / plugins 定義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61772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Tool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4360" y="4892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語言伺服器, 語意級程式碼理解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40480" y="46177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206240" y="4617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本身有語言能力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工具層級較有限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18120" y="46177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83880" y="4617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LSP tool + code intelligence plugins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/ references / hover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5166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" y="5394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外接工具與資料源 (GitHub, DB...)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40480" y="5120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206240" y="5120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marketplace / .kilocode/mcp.json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安裝管理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18120" y="5120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183880" y="5120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 / claude mcp add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也可由 plugin 打包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5669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/ 打包分發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94360" y="5897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把上述全部打包成可分發單位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40480" y="5623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206240" y="5623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Agents / MCP 可分享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plugin 生態不同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818120" y="5623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83880" y="5623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plugin 系統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Discover / install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621792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6217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關鍵差異: Hooks + LSP + Plugin 讓 Claude Code 更適合可治理的 pipeline 與大型 codebase 自動化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900" dirty="0"/>
          </a:p>
        </p:txBody>
      </p:sp>
      <p:sp>
        <p:nvSpPr>
          <p:cNvPr id="64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Plugins reference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什麼情境用什麼?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623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623560" cy="10972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 Kilo Code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77063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IDE 內做即時、互動式編輯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27355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想比較不同模型輸出 (Agent Manager)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77647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團隊成員不熟悉 terminal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7939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inline autocomplete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78231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簡單任務、不需要嚴格 pipeline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623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783080"/>
            <a:ext cx="5623560" cy="10972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011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 Claude Code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629400" y="277063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Hooks 回饋 / 阻擋 lint、test、安全檢查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327355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 refactor — 靠 LSP 做精準的跨檔重構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377647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想用 CLAUDE.md + settings 建立團隊規範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427939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想寫 Skills / Subagents 自動化常見流程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478231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 CI / Pipeline (claude -p 非互動模式)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實務上兩者可以共存 — Kilo Code 處理小修改、Claude Code 跑大任務與自動化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900" dirty="0"/>
          </a:p>
        </p:txBody>
      </p:sp>
      <p:sp>
        <p:nvSpPr>
          <p:cNvPr id="33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Best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如何安裝 Claude Code CLI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前置需求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(macOS / Linux / WSL / Windows)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官方建議: native installer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macOS/Linux/WSL: curl -fsSL https://claude.ai/install.sh | bash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Windows: irm https://claude.ai/install.ps1 | iex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595360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&amp; 登入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95360" y="32461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在專案目錄執行 claude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依公司提供方式登入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npm 已屬相容性安裝方式: npm install -g @anthropic-ai/claude-code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公司內部 endpoint / Proxy        ·  認證 / API Key 取得方式        ·  常見安裝問題排除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900" dirty="0"/>
          </a:p>
        </p:txBody>
      </p:sp>
      <p:sp>
        <p:nvSpPr>
          <p:cNvPr id="21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基本指令: Kilo Code → Claude Code 對照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你想做什麼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908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 Code 做法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438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指令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切換對話 / Session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在側邊欄選 chat history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   (上下鍵瀏覽歷史)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開啟新對話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 + New Chat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697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   (清空 context)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壓縮上下文以省 token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(無對應)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154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 [focus]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切換模型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下拉選單選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   或 --model opus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 Plan / Code 模式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6908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頂部切 mode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 或 /plan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問個小問題不污染 context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6908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(無對應)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/btw &lt;問題&gt;   (側鏈問答, 不進歷史)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看目前用了多少 token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69080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右下角狀態列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4983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   或 /context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5440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回退最近的修改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69080" y="5440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view 回復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43800" y="5440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/rewind   (checkpoint)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5897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匯出對話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69080" y="5897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複製貼上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43800" y="5897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/export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900" dirty="0"/>
          </a:p>
        </p:txBody>
      </p:sp>
      <p:sp>
        <p:nvSpPr>
          <p:cNvPr id="46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Commands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好用的快捷鍵 &amp; 隱藏技巧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7568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75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99339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取消目前輸入 / 生成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7568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75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+ Tab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199339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循環切換 Normal → Plan → Auto-accept 模式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6440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64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 + Esc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18211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 rewind / summarize 選單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01752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26440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264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@filename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318211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prompt 中明確帶入特定檔案,省去搜尋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45312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53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!command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43708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直接執行 shell 指令 (繞過對話模式)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20624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45312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453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貼上圖片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3708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V 貼上圖片討論 UI / error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9496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64184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641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55595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命令列直接 continue 上一個 session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539496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64184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641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"..."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55595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mode — 非互動式,適合 CI / Script 串接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900" dirty="0"/>
          </a:p>
        </p:txBody>
      </p:sp>
      <p:sp>
        <p:nvSpPr>
          <p:cNvPr id="38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Interactive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DEEP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 — 6 種權限模式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 Claude 在用 tool 時要不要問你 · Shift+Tab 切換 · 或在 settings.json 用 defaultMode 固定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09728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 · 安全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900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每個新工具會詢問 permission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適合不熟悉的 codebase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103120"/>
            <a:ext cx="109728" cy="17830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自動接受編輯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900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允許檔案編輯與常見檔案操作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/ network 仍依規則判斷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0" y="210312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103120"/>
            <a:ext cx="109728" cy="17830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0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純分析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29900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不修改檔案、不執行修改型工具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用於探索與設計階段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50792"/>
            <a:ext cx="109728" cy="17830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507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85546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9377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背景安全分類器自動判斷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需符合方案/模型條件才可用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4050792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4050792"/>
            <a:ext cx="109728" cy="1783080"/>
          </a:xfrm>
          <a:prstGeom prst="rect">
            <a:avLst/>
          </a:prstGeom>
          <a:solidFill>
            <a:srgbClr val="C9534F"/>
          </a:solidFill>
          <a:ln w="12700">
            <a:solidFill>
              <a:srgbClr val="C953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dontAsk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4507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嚴格 allowlist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85546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9377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只跑事先 /permissions allow 的工具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其他全部自動拒絕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21040" y="4050792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4050792"/>
            <a:ext cx="109728" cy="1783080"/>
          </a:xfrm>
          <a:prstGeom prst="rect">
            <a:avLst/>
          </a:prstGeom>
          <a:solidFill>
            <a:srgbClr val="C9534F"/>
          </a:solidFill>
          <a:ln w="12700">
            <a:solidFill>
              <a:srgbClr val="C953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bypassPermissions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95360" y="4507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危險 · 全跳過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95360" y="485546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49377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保護目錄仍可能詢問 (.git/.claude 等)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只用在 container / VM 隔離環境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59893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035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如何設定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63276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Shift+Tab 切換 · CLI 加 --permission-mode &lt;mode&gt; · settings.json 寫 "defaultMode" · 企業可鎖定 auto / bypass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900" dirty="0"/>
          </a:p>
        </p:txBody>
      </p:sp>
      <p:sp>
        <p:nvSpPr>
          <p:cNvPr id="46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Permissions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KEY TOPIC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管理 — 官方記憶系統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有兩套記憶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CLAUDE.md: 你寫的持久指令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Memory: Claude 自己累積學習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兩者都在每次 session 開始載入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它們是 context, 不是強制設定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 不等於自動同步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5623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只產生起始 CLAUDE.md；已存在時建議改進, 不覆蓋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965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這一章我們會看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63640" y="265176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正確定位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953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 codebase → 產生或建議改善 CLAUDE.md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52044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載入規則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往上完整載入, 子目錄按需載入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38912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官方漸進式加載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4690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 + paths frontmatter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525780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Memory /memory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5559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本機自動記憶；可檢視、編輯、關閉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900" dirty="0"/>
          </a:p>
        </p:txBody>
      </p:sp>
      <p:sp>
        <p:nvSpPr>
          <p:cNvPr id="36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Memory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AUDE md clean load model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/>
          <p:nvPr/>
        </p:nvSpPr>
        <p:spPr>
          <a:xfrm>
            <a:off x="457200" y="411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CHAPTER 04 · CONT.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777240"/>
            <a:ext cx="1124712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28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CLAUDE.md — 官方載入模型: scope 與讀取方向分開看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1341120"/>
            <a:ext cx="112471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Scope 決定誰共享；讀取方向只描述專案目錄階層。所有找到的記憶會串接進 context, 不是覆蓋。</a:t>
            </a:r>
          </a:p>
        </p:txBody>
      </p:sp>
      <p:sp>
        <p:nvSpPr>
          <p:cNvPr id="5" name="h1"/>
          <p:cNvSpPr/>
          <p:nvPr/>
        </p:nvSpPr>
        <p:spPr>
          <a:xfrm>
            <a:off x="680000" y="1770000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TW" sz="1150" b="1" dirty="0">
                <a:solidFill>
                  <a:srgbClr val="1E2761"/>
                </a:solidFill>
                <a:latin typeface="Calibri"/>
                <a:ea typeface="Microsoft JhengHei"/>
                <a:cs typeface="Calibri"/>
              </a:rPr>
              <a:t>1. Scope sources</a:t>
            </a:r>
          </a:p>
        </p:txBody>
      </p:sp>
      <p:sp>
        <p:nvSpPr>
          <p:cNvPr id="6" name="h2"/>
          <p:cNvSpPr/>
          <p:nvPr/>
        </p:nvSpPr>
        <p:spPr>
          <a:xfrm>
            <a:off x="4300000" y="177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TW" sz="1150" b="1" dirty="0">
                <a:solidFill>
                  <a:srgbClr val="1E2761"/>
                </a:solidFill>
                <a:latin typeface="Calibri"/>
                <a:ea typeface="Microsoft JhengHei"/>
                <a:cs typeface="Calibri"/>
              </a:rPr>
              <a:t>2. Loading behavior</a:t>
            </a:r>
          </a:p>
        </p:txBody>
      </p:sp>
      <p:sp>
        <p:nvSpPr>
          <p:cNvPr id="7" name="h3"/>
          <p:cNvSpPr/>
          <p:nvPr/>
        </p:nvSpPr>
        <p:spPr>
          <a:xfrm>
            <a:off x="8500000" y="1770000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TW" sz="1150" b="1" dirty="0">
                <a:solidFill>
                  <a:srgbClr val="1E2761"/>
                </a:solidFill>
                <a:latin typeface="Calibri"/>
                <a:ea typeface="Microsoft JhengHei"/>
                <a:cs typeface="Calibri"/>
              </a:rPr>
              <a:t>3. Final context</a:t>
            </a:r>
          </a:p>
        </p:txBody>
      </p:sp>
      <p:sp>
        <p:nvSpPr>
          <p:cNvPr id="10" name="managed"/>
          <p:cNvSpPr/>
          <p:nvPr/>
        </p:nvSpPr>
        <p:spPr>
          <a:xfrm>
            <a:off x="640000" y="2140000"/>
            <a:ext cx="2800000" cy="52000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Managed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Org policy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/etc/claude-code/CLAUDE.md</a:t>
            </a:r>
          </a:p>
        </p:txBody>
      </p:sp>
      <p:sp>
        <p:nvSpPr>
          <p:cNvPr id="11" name="user"/>
          <p:cNvSpPr/>
          <p:nvPr/>
        </p:nvSpPr>
        <p:spPr>
          <a:xfrm>
            <a:off x="640000" y="2860000"/>
            <a:ext cx="2800000" cy="520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User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Personal global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~/.claude/CLAUDE.md</a:t>
            </a:r>
          </a:p>
        </p:txBody>
      </p:sp>
      <p:sp>
        <p:nvSpPr>
          <p:cNvPr id="12" name="project"/>
          <p:cNvSpPr/>
          <p:nvPr/>
        </p:nvSpPr>
        <p:spPr>
          <a:xfrm>
            <a:off x="640000" y="3580000"/>
            <a:ext cx="2800000" cy="5200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2E9E6E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Project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Team shared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./CLAUDE.md or ./.claude/CLAUDE.md</a:t>
            </a:r>
          </a:p>
        </p:txBody>
      </p:sp>
      <p:sp>
        <p:nvSpPr>
          <p:cNvPr id="13" name="local"/>
          <p:cNvSpPr/>
          <p:nvPr/>
        </p:nvSpPr>
        <p:spPr>
          <a:xfrm>
            <a:off x="640000" y="4300000"/>
            <a:ext cx="2800000" cy="52000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D6A100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Local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Personal repo-specific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./CLAUDE.local.md</a:t>
            </a:r>
          </a:p>
        </p:txBody>
      </p:sp>
      <p:sp>
        <p:nvSpPr>
          <p:cNvPr id="20" name="startup"/>
          <p:cNvSpPr/>
          <p:nvPr/>
        </p:nvSpPr>
        <p:spPr>
          <a:xfrm>
            <a:off x="4300000" y="2180000"/>
            <a:ext cx="300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Startup load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Managed + User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plus cwd → parents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CLAUDE.md + CLAUDE.local.md</a:t>
            </a:r>
          </a:p>
        </p:txBody>
      </p:sp>
      <p:sp>
        <p:nvSpPr>
          <p:cNvPr id="21" name="append"/>
          <p:cNvSpPr/>
          <p:nvPr/>
        </p:nvSpPr>
        <p:spPr>
          <a:xfrm>
            <a:off x="4300000" y="3180000"/>
            <a:ext cx="300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Same directory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CLAUDE.local.md is appended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after CLAUDE.md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個人筆記在同層最後讀</a:t>
            </a:r>
          </a:p>
        </p:txBody>
      </p:sp>
      <p:sp>
        <p:nvSpPr>
          <p:cNvPr id="22" name="ondemand"/>
          <p:cNvSpPr/>
          <p:nvPr/>
        </p:nvSpPr>
        <p:spPr>
          <a:xfrm>
            <a:off x="4300000" y="4180000"/>
            <a:ext cx="300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On-demand load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Subdir CLAUDE.md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path-scoped .claude/rules/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讀到匹配檔案才載入</a:t>
            </a:r>
          </a:p>
        </p:txBody>
      </p:sp>
      <p:sp>
        <p:nvSpPr>
          <p:cNvPr id="30" name="context"/>
          <p:cNvSpPr/>
          <p:nvPr/>
        </p:nvSpPr>
        <p:spPr>
          <a:xfrm>
            <a:off x="8500000" y="2440000"/>
            <a:ext cx="2800000" cy="94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Context window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All discovered files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concatenated into context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不是設定覆蓋</a:t>
            </a:r>
          </a:p>
        </p:txBody>
      </p:sp>
      <p:sp>
        <p:nvSpPr>
          <p:cNvPr id="31" name="guidance"/>
          <p:cNvSpPr/>
          <p:nvPr/>
        </p:nvSpPr>
        <p:spPr>
          <a:xfrm>
            <a:off x="8500000" y="3700000"/>
            <a:ext cx="2800000" cy="9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8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Implication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更具體 + 較晚出現的內容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更貼近當前任務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衝突時 Claude 可能任意選擇</a:t>
            </a:r>
          </a:p>
        </p:txBody>
      </p:sp>
      <p:cxnSp>
        <p:nvCxnSpPr>
          <p:cNvPr id="40" name="sources to behavior"/>
          <p:cNvCxnSpPr/>
          <p:nvPr/>
        </p:nvCxnSpPr>
        <p:spPr>
          <a:xfrm>
            <a:off x="3440000" y="3840000"/>
            <a:ext cx="86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1" name="behavior to context"/>
          <p:cNvCxnSpPr/>
          <p:nvPr/>
        </p:nvCxnSpPr>
        <p:spPr>
          <a:xfrm>
            <a:off x="7300000" y="2540000"/>
            <a:ext cx="1200000" cy="370000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2" name="behavior to guidance"/>
          <p:cNvCxnSpPr/>
          <p:nvPr/>
        </p:nvCxnSpPr>
        <p:spPr>
          <a:xfrm flipV="1">
            <a:off x="7300000" y="4170000"/>
            <a:ext cx="1200000" cy="370000"/>
          </a:xfrm>
          <a:prstGeom prst="straightConnector1">
            <a:avLst/>
          </a:prstGeom>
          <a:ln w="11430">
            <a:solidFill>
              <a:srgbClr val="8B5CF6"/>
            </a:solidFill>
            <a:headEnd type="triangle"/>
          </a:ln>
        </p:spPr>
      </p:cxnSp>
      <p:cxnSp>
        <p:nvCxnSpPr>
          <p:cNvPr id="43" name="startup append"/>
          <p:cNvCxnSpPr/>
          <p:nvPr/>
        </p:nvCxnSpPr>
        <p:spPr>
          <a:xfrm>
            <a:off x="5800000" y="2900000"/>
            <a:ext cx="1" cy="280000"/>
          </a:xfrm>
          <a:prstGeom prst="straightConnector1">
            <a:avLst/>
          </a:prstGeom>
          <a:ln w="11430">
            <a:solidFill>
              <a:srgbClr val="1E2761"/>
            </a:solidFill>
            <a:headEnd type="triangle"/>
          </a:ln>
        </p:spPr>
      </p:cxnSp>
      <p:cxnSp>
        <p:nvCxnSpPr>
          <p:cNvPr id="44" name="append ondemand"/>
          <p:cNvCxnSpPr/>
          <p:nvPr/>
        </p:nvCxnSpPr>
        <p:spPr>
          <a:xfrm>
            <a:off x="5800000" y="3900000"/>
            <a:ext cx="1" cy="280000"/>
          </a:xfrm>
          <a:prstGeom prst="straightConnector1">
            <a:avLst/>
          </a:prstGeom>
          <a:ln w="11430">
            <a:solidFill>
              <a:srgbClr val="1E2761"/>
            </a:solidFill>
            <a:headEnd type="triangle"/>
          </a:ln>
        </p:spPr>
      </p:cxnSp>
      <p:sp>
        <p:nvSpPr>
          <p:cNvPr id="50" name="note"/>
          <p:cNvSpPr/>
          <p:nvPr/>
        </p:nvSpPr>
        <p:spPr>
          <a:xfrm>
            <a:off x="457200" y="5900000"/>
            <a:ext cx="11247120" cy="56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講法建議</a:t>
            </a:r>
          </a:p>
          <a:p>
            <a:pPr marL="0" indent="0" algn="ctr">
              <a:buNone/>
            </a:pPr>
            <a:r>
              <a:rPr lang="zh-TW" sz="850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不要說「Managed → Project → User → Local 載入」。應說「Managed/User 是全域來源；Project/Local 依 cwd 往父層發現並串接」。</a:t>
            </a:r>
          </a:p>
        </p:txBody>
      </p:sp>
      <p:sp>
        <p:nvSpPr>
          <p:cNvPr id="51" name="footer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zh-TW" sz="9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11 / 27</a:t>
            </a:r>
          </a:p>
        </p:txBody>
      </p:sp>
      <p:sp>
        <p:nvSpPr>
          <p:cNvPr id="52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u/>
                <a:hlinkClick r:id="rId2"/>
              </a:rPr>
              <a:t>Docs: Memory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漸進式加載 — 官方做法: .claude/rules/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不要只靠 @import 把所有內容啟動時塞進 context；把規則拆成主題檔, 必要時用 paths 限定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25400">
            <a:solidFill>
              <a:srgbClr val="5B8F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.claude/rules/testing.md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55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paths frontmatter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32918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21608"/>
            <a:ext cx="31089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 前執行 npm 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E2E 需本機 Redis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啟動時載入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適合全專案共用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0604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254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rules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063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.claude/rules/api.md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355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只在匹配檔案時載入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703320"/>
            <a:ext cx="32918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721608"/>
            <a:ext cx="31089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"src/api/**/*.ts"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rules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必須做輸入驗證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5029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減少 context 雜訊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260604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rules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0" y="3063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~/.claude/rules/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3355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跨專案個人偏好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3703320"/>
            <a:ext cx="32918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3721608"/>
            <a:ext cx="31089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preferences.md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workflows.md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style.md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先載入, project 後載入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5029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專案規則更貼近 repo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532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載入時機: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9748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C9534F"/>
          </a:solidFill>
          <a:ln w="12700">
            <a:solidFill>
              <a:srgbClr val="C953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5532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8912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5A6178"/>
          </a:solidFill>
          <a:ln w="12700">
            <a:solidFill>
              <a:srgbClr val="5A61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讀檔觸發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06440" y="5532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8076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0" y="5532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89720" y="5532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46404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6404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03504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任務型指令更適合用 Skills；規則型指令放 .claude/rules/，路徑特定規則在 Claude 讀到匹配檔案時觸發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900" dirty="0"/>
          </a:p>
        </p:txBody>
      </p:sp>
      <p:sp>
        <p:nvSpPr>
          <p:cNvPr id="46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Memory rules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it memory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/>
          <p:nvPr/>
        </p:nvSpPr>
        <p:spPr>
          <a:xfrm>
            <a:off x="457200" y="411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CHAPTER 04 · /init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777240"/>
            <a:ext cx="1124712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29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/init — 產生專案記憶與團隊 artifacts 的起點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1341120"/>
            <a:ext cx="1124712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/init 會分析 codebase，產生起始 CLAUDE.md；如果已存在，會提出改善建議而不是覆蓋。</a:t>
            </a:r>
          </a:p>
        </p:txBody>
      </p:sp>
      <p:sp>
        <p:nvSpPr>
          <p:cNvPr id="5" name="cmd"/>
          <p:cNvSpPr/>
          <p:nvPr/>
        </p:nvSpPr>
        <p:spPr>
          <a:xfrm>
            <a:off x="640080" y="1980000"/>
            <a:ext cx="3200000" cy="90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buNone/>
            </a:pPr>
            <a:r>
              <a:rPr lang="zh-TW" sz="115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$ claude</a:t>
            </a:r>
          </a:p>
          <a:p>
            <a:pPr marL="0" indent="0" algn="l">
              <a:buNone/>
            </a:pPr>
            <a:r>
              <a:rPr lang="zh-TW" sz="115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&gt; /init</a:t>
            </a:r>
          </a:p>
        </p:txBody>
      </p:sp>
      <p:sp>
        <p:nvSpPr>
          <p:cNvPr id="6" name="what"/>
          <p:cNvSpPr/>
          <p:nvPr/>
        </p:nvSpPr>
        <p:spPr>
          <a:xfrm>
            <a:off x="4300000" y="1880000"/>
            <a:ext cx="2200000" cy="1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它會做什麼?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探索 build/test 指令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整理 project conventions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產生可 review 的 CLAUDE.md</a:t>
            </a:r>
          </a:p>
        </p:txBody>
      </p:sp>
      <p:sp>
        <p:nvSpPr>
          <p:cNvPr id="7" name="existing"/>
          <p:cNvSpPr/>
          <p:nvPr/>
        </p:nvSpPr>
        <p:spPr>
          <a:xfrm>
            <a:off x="6900000" y="1880000"/>
            <a:ext cx="2200000" cy="1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已經有 CLAUDE.md?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只建議 improvements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不直接覆蓋原檔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需要你 review 後採用</a:t>
            </a:r>
          </a:p>
        </p:txBody>
      </p:sp>
      <p:sp>
        <p:nvSpPr>
          <p:cNvPr id="8" name="new"/>
          <p:cNvSpPr/>
          <p:nvPr/>
        </p:nvSpPr>
        <p:spPr>
          <a:xfrm>
            <a:off x="9500000" y="1880000"/>
            <a:ext cx="2200000" cy="1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E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新互動流程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CLAUDE_CODE_NEW_INIT=1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可選 CLAUDE.md / skills / hooks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subagent 探索 + follow-up questions</a:t>
            </a:r>
          </a:p>
        </p:txBody>
      </p:sp>
      <p:cxnSp>
        <p:nvCxnSpPr>
          <p:cNvPr id="9" name="arrow1"/>
          <p:cNvCxnSpPr/>
          <p:nvPr/>
        </p:nvCxnSpPr>
        <p:spPr>
          <a:xfrm>
            <a:off x="3840000" y="2430000"/>
            <a:ext cx="460000" cy="1"/>
          </a:xfrm>
          <a:prstGeom prst="straightConnector1">
            <a:avLst/>
          </a:prstGeom>
          <a:ln w="12700">
            <a:solidFill>
              <a:srgbClr val="5A6178"/>
            </a:solidFill>
            <a:headEnd type="triangle"/>
          </a:ln>
        </p:spPr>
      </p:cxnSp>
      <p:cxnSp>
        <p:nvCxnSpPr>
          <p:cNvPr id="10" name="arrow2"/>
          <p:cNvCxnSpPr/>
          <p:nvPr/>
        </p:nvCxnSpPr>
        <p:spPr>
          <a:xfrm>
            <a:off x="6500000" y="2430000"/>
            <a:ext cx="400000" cy="1"/>
          </a:xfrm>
          <a:prstGeom prst="straightConnector1">
            <a:avLst/>
          </a:prstGeom>
          <a:ln w="12700">
            <a:solidFill>
              <a:srgbClr val="5A6178"/>
            </a:solidFill>
            <a:headEnd type="triangle"/>
          </a:ln>
        </p:spPr>
      </p:cxnSp>
      <p:cxnSp>
        <p:nvCxnSpPr>
          <p:cNvPr id="11" name="arrow3"/>
          <p:cNvCxnSpPr/>
          <p:nvPr/>
        </p:nvCxnSpPr>
        <p:spPr>
          <a:xfrm>
            <a:off x="9100000" y="2430000"/>
            <a:ext cx="400000" cy="1"/>
          </a:xfrm>
          <a:prstGeom prst="straightConnector1">
            <a:avLst/>
          </a:prstGeom>
          <a:ln w="12700">
            <a:solidFill>
              <a:srgbClr val="5A6178"/>
            </a:solidFill>
            <a:headEnd type="triangle"/>
          </a:ln>
        </p:spPr>
      </p:cxnSp>
      <p:sp>
        <p:nvSpPr>
          <p:cNvPr id="12" name="notauto"/>
          <p:cNvSpPr/>
          <p:nvPr/>
        </p:nvSpPr>
        <p:spPr>
          <a:xfrm>
            <a:off x="640080" y="3650000"/>
            <a:ext cx="5300000" cy="85000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D6A100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不是自動同步器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專案結構變了, CLAUDE.md 不會背景自動更新。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你可以重新跑 /init、請 Claude review memory, 或手動調整。</a:t>
            </a:r>
          </a:p>
        </p:txBody>
      </p:sp>
      <p:sp>
        <p:nvSpPr>
          <p:cNvPr id="13" name="tips"/>
          <p:cNvSpPr/>
          <p:nvPr/>
        </p:nvSpPr>
        <p:spPr>
          <a:xfrm>
            <a:off x="6400000" y="3650000"/>
            <a:ext cx="5300000" cy="850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適合什麼時候用?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新 repo onboarding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接手陌生 codebase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團隊想把 build/test/架構慣例寫下來</a:t>
            </a:r>
          </a:p>
        </p:txBody>
      </p:sp>
      <p:sp>
        <p:nvSpPr>
          <p:cNvPr id="14" name="note"/>
          <p:cNvSpPr/>
          <p:nvPr/>
        </p:nvSpPr>
        <p:spPr>
          <a:xfrm>
            <a:off x="457200" y="5920000"/>
            <a:ext cx="11247120" cy="52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講法: /init 是「起草與改善專案說明書」；真正長期維護仍靠團隊 review、rules、skills 與 auto memory。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/>
            </a:r>
          </a:p>
        </p:txBody>
      </p:sp>
      <p:sp>
        <p:nvSpPr>
          <p:cNvPr id="15" name="footer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zh-TW" sz="9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13 / 27</a:t>
            </a:r>
          </a:p>
        </p:txBody>
      </p:sp>
      <p:sp>
        <p:nvSpPr>
          <p:cNvPr id="16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u/>
                <a:hlinkClick r:id="rId2"/>
              </a:rPr>
              <a:t>Docs: Memory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/ Skills / MCP — 三種擴充方式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3657600" cy="5486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你叫它做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把常用 prompt 包成 markdown,前綴 / 直接呼叫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適合場景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明確、固定的工作流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檔案位置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.claude/commands/&lt;n&gt;.md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~/.claude/commands/&lt;n&gt;.md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329184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6418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/refactor src/auth.ts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178308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783080"/>
            <a:ext cx="3657600" cy="54864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它自己決定要不要用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寫成的「playbook」, 用 description 讓 Claude 在合適時機自動套用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適合場景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977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領域知識 / 特定情境技能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檔案位置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709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.claude/skills/&lt;n&gt;/SKILL.md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~/.claude/skills/&lt;n&gt;/SKILL.md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5623560"/>
            <a:ext cx="329184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56418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(Claude 看 description 自動觸發)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21040" y="178308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1783080"/>
            <a:ext cx="3657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0392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外接工具與資料源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Model Context Protocol 接外部服務, Claude 直接呼叫遠端工具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適合場景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0" y="3977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 GitHub / DB / Slack / 內部 API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檔案位置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4709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  /  ~/.claude.json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或 claude mcp add ...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50392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5623560"/>
            <a:ext cx="329184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56418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http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https://mcp.github.com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900" dirty="0"/>
          </a:p>
        </p:txBody>
      </p:sp>
      <p:sp>
        <p:nvSpPr>
          <p:cNvPr id="42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Skills / MCP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內建 Tools — 官方分類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tools-reference 會持續更新；實際可用工具依版本、平台、plugin、MCP 而異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09728" cy="187452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Edit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讀寫與搜尋檔案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· Write* · Edit* · Glob · Grep · NotebookEdit*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16552" y="210312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2103120"/>
            <a:ext cx="109728" cy="187452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/ Code Intel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執行指令與語意理解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90872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2971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Bash* · PowerShell* (preview) · LSP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75904" y="210312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103120"/>
            <a:ext cx="109728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50224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50224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網路存取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50224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0224" y="2971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WebFetch* · WebSearch*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42232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42232"/>
            <a:ext cx="109728" cy="1874520"/>
          </a:xfrm>
          <a:prstGeom prst="rect">
            <a:avLst/>
          </a:prstGeom>
          <a:solidFill>
            <a:srgbClr val="2E9E6E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51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Todo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599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任務與待辦管理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94690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01091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TaskCreate · TaskUpdate · TaskList · TodoWrite · TaskOutput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16552" y="4142232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16552" y="4142232"/>
            <a:ext cx="109728" cy="187452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4251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Plan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90872" y="4599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委派、計畫、互動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90872" y="494690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501091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· Skill* · EnterPlanMode · ExitPlanMode* · AskUserQuestion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75904" y="4142232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75904" y="4142232"/>
            <a:ext cx="109728" cy="187452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50224" y="4251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Worktree / Cron / Team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50224" y="4599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外部資源、隔離環境、排程、agent teams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50224" y="494690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50224" y="501091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resources · EnterWorktree · CronCreate/List/Delete · TeamCreate/Delete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612648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實用: 在 session 內問「What tools do you have access to?」可即時列出當前載入的 tool · MCP tool 用 /mcp 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900" dirty="0"/>
          </a:p>
        </p:txBody>
      </p:sp>
      <p:sp>
        <p:nvSpPr>
          <p:cNvPr id="45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Tools reference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· 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Tool — Claude 的 IDE 級別程式碼理解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6235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Tool 是什麼?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Server Protocol — 跟 VSCode 的智能感知同源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Claude 四件事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42900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Go-to-definition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跳到符號定義位置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93192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references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找出所有使用該符號的地方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434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取得編譯 / 型別錯誤與 warning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93776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docs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取得型別資訊、註解與 edit feedback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440680"/>
            <a:ext cx="5257800" cy="777240"/>
          </a:xfrm>
          <a:prstGeom prst="roundRect">
            <a:avLst>
              <a:gd name="adj" fmla="val 588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440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意義: Claude 不再只靠 grep 猜, 可用 diagnostics + references 做大型重構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78308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如何啟用?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46520" y="24231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code intelligence plugin + language server binary，最後確認 Claude 可用 LSP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154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裝 plugin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3474720"/>
            <a:ext cx="5074920" cy="457200"/>
          </a:xfrm>
          <a:prstGeom prst="rect">
            <a:avLst/>
          </a:prstGeom>
          <a:solidFill>
            <a:srgbClr val="0A0F25"/>
          </a:solidFill>
          <a:ln w="12700">
            <a:solidFill>
              <a:srgbClr val="0A0F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pyright-lsp  (或 typescript-lsp / gopls-lsp)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4069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裝 language server binary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pyright  /  確認 pyright-langserver 可執行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4846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問 Claude 是否能用 LSP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5166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「你現在可以使用 LSP 嗎? 請列出 diagnostics / references 能力」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直接用: Claude 會用 LSP 找 references, 不靠純文字搜尋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900" dirty="0"/>
          </a:p>
        </p:txBody>
      </p:sp>
      <p:sp>
        <p:nvSpPr>
          <p:cNvPr id="34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LSP tool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 — 把任務委派給隔離的子代理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394960" cy="10972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是什麼?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一個獨立 context 的子 Claude, 跑完丟結果摘要回主對話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雜訊隔離 — 探索 codebase 不污染主對話 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並行加速 — 可同時跑多個 (review + impl + test)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專業分工 — 不同 agent 不同 system prompt / 工具集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937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成本控制 — 小模型探索, 主模型整合與實作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486400"/>
            <a:ext cx="5029200" cy="68580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864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agent: Explore、Plan、general-purpose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78308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783080"/>
            <a:ext cx="5669280" cy="10972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011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 Subagent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放在 .claude/agents/&lt;name&gt;.md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5349240" cy="24688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971800"/>
            <a:ext cx="5212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security-reviewer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用於審查 PR 安全議題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Read, Grep, Glob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你是安全審查專家。請檢查: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SQL injection / XSS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認證授權邏輯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機密資料外洩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回報 high / med / low 風險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55321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 可依任務自動派工, 或你明說「use security-reviewer」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900" dirty="0"/>
          </a:p>
        </p:txBody>
      </p:sp>
      <p:sp>
        <p:nvSpPr>
          <p:cNvPr id="28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Subagents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26 個 lifecycle events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hooks-reference 可按生命週期整理；實際事件清單以官方 reference 為準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2788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生命週期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SessionStart · SessionEnd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InstructionsLoaded · ConfigChange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20574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057400"/>
            <a:ext cx="2788920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0574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(每次對話)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UserPromptSubmit · Stop · StopFailure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20574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057400"/>
            <a:ext cx="2788920" cy="29260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0574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 · PermissionRequest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PermissionDenied · PostToolUse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PostToolUseFailure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98280" y="20574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2057400"/>
            <a:ext cx="2788920" cy="292608"/>
          </a:xfrm>
          <a:prstGeom prst="rect">
            <a:avLst/>
          </a:prstGeom>
          <a:solidFill>
            <a:srgbClr val="2E9E6E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0574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/ 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SubagentStart · SubagentStop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TaskCreated · TaskCompleted · TeammateIdle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19656" y="36576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9656" y="3657600"/>
            <a:ext cx="2788920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11096" y="36576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Env / 通知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56816" y="4023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CwdChanged · FileChanged · Notification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0016" y="36576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3657600"/>
            <a:ext cx="2788920" cy="29260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36576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37176" y="4023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WorktreeCreate · WorktreeRemove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0376" y="36576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3657600"/>
            <a:ext cx="2788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71816" y="36576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&amp; MCP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17536" y="4023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PreCompact · PostCompact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Elicitation · ElicitationResult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52120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03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最常用 5 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56235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PostToolUse(Edit) → 自動 lint · PreToolUse(Bash) → 阻擋危險指令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→ 自動跑測試 · SessionStart → 載入 secrets/venv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UserPromptSubmit → 注入 ticket context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5212080"/>
            <a:ext cx="5669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53035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 範例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623560"/>
            <a:ext cx="5349240" cy="9601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565099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"hooks": { "PostToolUse": [{ "matcher": "Write|Edit",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[{ "type": "command",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"\"$CLAUDE_PROJECT_DIR\"/.claude/hooks/check-style.sh" }] }] } 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900" dirty="0"/>
          </a:p>
        </p:txBody>
      </p:sp>
      <p:sp>
        <p:nvSpPr>
          <p:cNvPr id="42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Hooks reference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ok howto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/>
          <p:nvPr/>
        </p:nvSpPr>
        <p:spPr>
          <a:xfrm>
            <a:off x="457200" y="411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CHAPTER 07 · HOW-TO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777240"/>
            <a:ext cx="1124712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28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Hook 寫法: event → matcher / if → handler → decision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1341120"/>
            <a:ext cx="112471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核心心法: 先選 lifecycle event，再用 matcher / if 精準縮小觸發條件，最後用 handler output 影響 Claude 後續行為。</a:t>
            </a:r>
          </a:p>
        </p:txBody>
      </p:sp>
      <p:sp>
        <p:nvSpPr>
          <p:cNvPr id="5" name="json"/>
          <p:cNvSpPr/>
          <p:nvPr/>
        </p:nvSpPr>
        <p:spPr>
          <a:xfrm>
            <a:off x="640000" y="1830000"/>
            <a:ext cx="5300000" cy="285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{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"hooks": {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  "PostToolUse": [{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    "matcher": "Edit|Write",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    "if": "Edit(*.py)|Write(*.py)",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    "hooks": [{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      "type": "command",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      "command": "$CLAUDE_PROJECT_DIR/.claude/hooks/check-python.sh"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    }]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  }]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}</a:t>
            </a:r>
          </a:p>
          <a:p>
            <a:pPr marL="0" indent="0" algn="l">
              <a:buNone/>
            </a:pPr>
            <a:r>
              <a:rPr lang="zh-TW" sz="82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}</a:t>
            </a:r>
          </a:p>
        </p:txBody>
      </p:sp>
      <p:sp>
        <p:nvSpPr>
          <p:cNvPr id="6" name="event"/>
          <p:cNvSpPr/>
          <p:nvPr/>
        </p:nvSpPr>
        <p:spPr>
          <a:xfrm>
            <a:off x="6400000" y="1840000"/>
            <a:ext cx="240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① event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PreToolUse / PostToolUse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UserPromptSubmit / Stop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SessionStart ...</a:t>
            </a:r>
          </a:p>
        </p:txBody>
      </p:sp>
      <p:sp>
        <p:nvSpPr>
          <p:cNvPr id="7" name="matcher"/>
          <p:cNvSpPr/>
          <p:nvPr/>
        </p:nvSpPr>
        <p:spPr>
          <a:xfrm>
            <a:off x="9100000" y="1840000"/>
            <a:ext cx="240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E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② matcher / if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matcher 選 tool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if 做細條件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例如 *.py / Bash(command)</a:t>
            </a:r>
          </a:p>
        </p:txBody>
      </p:sp>
      <p:sp>
        <p:nvSpPr>
          <p:cNvPr id="8" name="handler"/>
          <p:cNvSpPr/>
          <p:nvPr/>
        </p:nvSpPr>
        <p:spPr>
          <a:xfrm>
            <a:off x="6400000" y="3020000"/>
            <a:ext cx="240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③ handler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command / http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prompt / agent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可 sync 或 async</a:t>
            </a:r>
          </a:p>
        </p:txBody>
      </p:sp>
      <p:sp>
        <p:nvSpPr>
          <p:cNvPr id="9" name="decision"/>
          <p:cNvSpPr/>
          <p:nvPr/>
        </p:nvSpPr>
        <p:spPr>
          <a:xfrm>
            <a:off x="9100000" y="3020000"/>
            <a:ext cx="240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④ decision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exit 0: pass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exit 2: block + stderr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JSON: 細粒度控制</a:t>
            </a:r>
          </a:p>
        </p:txBody>
      </p:sp>
      <p:sp>
        <p:nvSpPr>
          <p:cNvPr id="10" name="debug"/>
          <p:cNvSpPr/>
          <p:nvPr/>
        </p:nvSpPr>
        <p:spPr>
          <a:xfrm>
            <a:off x="6400000" y="4200000"/>
            <a:ext cx="5100000" cy="760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Debug tips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使用 $CLAUDE_PROJECT_DIR 寫絕對路徑；script 從 stdin 讀 JSON payload；先用 transcript / stderr debug；Windows 可用 PowerShell handler。</a:t>
            </a:r>
          </a:p>
        </p:txBody>
      </p:sp>
      <p:sp>
        <p:nvSpPr>
          <p:cNvPr id="11" name="note"/>
          <p:cNvSpPr/>
          <p:nvPr/>
        </p:nvSpPr>
        <p:spPr>
          <a:xfrm>
            <a:off x="457200" y="5920000"/>
            <a:ext cx="11247120" cy="52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範例: Python 後端專案可在 PostToolUse(Edit|Write) 後跑 ruff / black / mypy / pytest；在 PreToolUse(Bash) 前阻擋 prod DB / secrets / 危險刪除。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/>
            </a:r>
          </a:p>
        </p:txBody>
      </p:sp>
      <p:sp>
        <p:nvSpPr>
          <p:cNvPr id="12" name="footer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zh-TW" sz="9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22 / 27</a:t>
            </a:r>
          </a:p>
        </p:txBody>
      </p:sp>
      <p:sp>
        <p:nvSpPr>
          <p:cNvPr id="13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u/>
                <a:hlinkClick r:id="rId2"/>
              </a:rPr>
              <a:t>Docs: Hooks reference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 · MOTIVATION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為什麼要有 Plugin? — 走向 Harness Engineering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= 把 LLM 包裝成可靠 agent 的整套基礎設施 (tools / memory / hooks / permissions / 工作流)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= 把你打造的 harness 打包、版本化、一鍵分發給整個團隊的容器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06040"/>
            <a:ext cx="3657600" cy="457200"/>
          </a:xfrm>
          <a:prstGeom prst="rect">
            <a:avLst/>
          </a:prstGeom>
          <a:solidFill>
            <a:srgbClr val="C9534F"/>
          </a:solidFill>
          <a:ln w="12700">
            <a:solidFill>
              <a:srgbClr val="C953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Plugin 之前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每個人各自寫 CLAUDE.md, 風格不一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好用的 prompt 靠 Slack 截圖傳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/ Skills 要手動複製檔案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 onboarding 從零摸索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升級 / 修 bug 沒人知道誰在用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303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303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「最佳實踐」散落在每個人的腦中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260604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2606040"/>
            <a:ext cx="3657600" cy="4572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提供什麼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34840" y="3200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Subagents + Hooks + MCP 一個包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37307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3730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/ semver, 可回退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4840" y="42611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一鍵分發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4261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install 全隊同步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47914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可開關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7914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不用時 disable, 維持 context 精簡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53218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5321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集中管理、可審核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260604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606040"/>
            <a:ext cx="3657600" cy="4572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催生新角色: Harness Engineer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0" y="3154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不寫產品 code, 而是打造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「讓 AI 可靠寫 code 的環境」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負責什麼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40690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12480" y="4069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設計團隊 CLAUDE.md / settings 規範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443484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12480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Hooks 強制 lint / test / 安全檢查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480060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1248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Subagents / Skills 自動化常見流程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516636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412480" y="5166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包成 plugin 推給全隊使用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553212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412480" y="5532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監控成本 / token 使用 / 失敗模式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98932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槓桿: 1 個 harness engineer 寫的 plugin → 全隊 N 人立刻獲得相同的工作流, 最佳實踐自動傳播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900" dirty="0"/>
          </a:p>
        </p:txBody>
      </p:sp>
      <p:sp>
        <p:nvSpPr>
          <p:cNvPr id="54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Plugins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 — 安裝方式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= Skills + Agents + Hooks + MCP servers + Sub Agents </a:t>
            </a:r>
            <a:r>
              <a:rPr lang="en-US" sz="1400" b="1" dirty="0" err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的打包組合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一鍵安裝、可隨時 enable / disable, 不用時關掉節省 context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474720"/>
            <a:ext cx="411480" cy="41148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marketplace 通常已可用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977640"/>
            <a:ext cx="242316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95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若找不到才 marketplace update / add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anthropics/claude-plugins-official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333756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3474720"/>
            <a:ext cx="411480" cy="41148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 / 找 plugin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0440" y="3977640"/>
            <a:ext cx="242316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995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(Discover / Installed / Marketplaces / Errors)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333756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474720"/>
            <a:ext cx="411480" cy="41148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3977640"/>
            <a:ext cx="242316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995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&lt;name&gt;@claude-plugins-official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235440" y="333756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72600" y="3474720"/>
            <a:ext cx="411480" cy="41148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7552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72600" y="3977640"/>
            <a:ext cx="242316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3995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    啟用 / 停用 / 移除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/reload-plugins  熱重載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 Marketplace 來源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claude-plugins-official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5486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官方維護的 plugin catalog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wshobson/agents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 agents / skills marketplace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davepoon/buildwithclaude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 frontend / nextjs / workflow plugins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ccplugins/awesome-claude-code-plugins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6309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社群精選清單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900" dirty="0"/>
          </a:p>
        </p:txBody>
      </p:sp>
      <p:sp>
        <p:nvSpPr>
          <p:cNvPr id="43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Plugin marketplaces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 / 可示範 Plugin 清單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MCP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E2E automation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security-guidance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攔截常見安全風險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4964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code review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27832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community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 AI 產生的 UI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227832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claude-md-management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維護 CLAUDE.md 品質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227832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4964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workflow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4964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/ debugging / brainstorming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718304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ralph-loop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workflow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長任務 autonomous coding loop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4718304"/>
            <a:ext cx="914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commit-commands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1772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push / PR 工作流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2104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4718304"/>
            <a:ext cx="914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pr-review-toolkit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54964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4964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/ tests / type 設計檢查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12648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提醒: marketplace 會更新；現場請以 /plugin Discover tab 為準。重型 workflow plugin 小修改不一定需要。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900" dirty="0"/>
          </a:p>
        </p:txBody>
      </p:sp>
      <p:sp>
        <p:nvSpPr>
          <p:cNvPr id="53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Plugins reference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68580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365760" cy="68580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8880" y="23774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46888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after the talk: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4526280"/>
            <a:ext cx="5943600" cy="502920"/>
          </a:xfrm>
          <a:prstGeom prst="rect">
            <a:avLst/>
          </a:prstGeom>
          <a:solidFill>
            <a:srgbClr val="0A0F25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45262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your-project &amp;&amp; claude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5349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https://code.claude.com/docs</a:t>
            </a:r>
            <a:endParaRPr lang="en-US" sz="1400" dirty="0"/>
          </a:p>
        </p:txBody>
      </p:sp>
      <p:sp>
        <p:nvSpPr>
          <p:cNvPr id="11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3"/>
              </a:rPr>
              <a:t>Docs: Claude Code docs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 ·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 Demo — Python Backend Workflow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Developer 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/api-feature PROJ-123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只描述需求與驗收條件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Skills: Plan + TDD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api-feature-plan 拆任務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test-first 先產 pytest contract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MCP: Project Context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GitHub / Postgres / OpenAPI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4964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ticket、schema、API spec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27832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Subagent: Implement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api-implementer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+ Pydantic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227832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Subagent: 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test-reviewer / security-reviewer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 edge cases, 找風險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227832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Hooks: Quality Gate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4964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PostToolUse(Edit)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4964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+ black + mypy + pytest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718304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Hooks: Safety Gate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PreToolUse(Bash)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 rm -rf / secrets / prod DB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4718304"/>
            <a:ext cx="914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Output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1772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PR-ready branch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 + change summary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2104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4718304"/>
            <a:ext cx="914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Team Harness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54964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打包成 plugin 分發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4964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全隊得到同一套 workflow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12648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開發者只描述需求；harness 決定流程、工具、檢查點與交付格式。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900" dirty="0"/>
          </a:p>
        </p:txBody>
      </p:sp>
      <p:sp>
        <p:nvSpPr>
          <p:cNvPr id="53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2"/>
              </a:rPr>
              <a:t>Docs: Plugins reference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bagent clean flowchart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/>
          <p:nvPr/>
        </p:nvSpPr>
        <p:spPr>
          <a:xfrm>
            <a:off x="457200" y="411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CHAPTER 07 · EXAMPLE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777240"/>
            <a:ext cx="1124712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29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Subagent 實戰 — 主 agent 如何委派多個 review agents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1341120"/>
            <a:ext cx="112471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以官方 PR Review Toolkit 為例：6 個 expert review agents 可個別觸發，也可針對 PR 多面向並行/循序檢查</a:t>
            </a:r>
          </a:p>
        </p:txBody>
      </p:sp>
      <p:sp>
        <p:nvSpPr>
          <p:cNvPr id="5" name="User request"/>
          <p:cNvSpPr/>
          <p:nvPr/>
        </p:nvSpPr>
        <p:spPr>
          <a:xfrm>
            <a:off x="760000" y="1880000"/>
            <a:ext cx="2200000" cy="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User Request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「review this PR」</a:t>
            </a:r>
          </a:p>
        </p:txBody>
      </p:sp>
      <p:sp>
        <p:nvSpPr>
          <p:cNvPr id="6" name="Main agent"/>
          <p:cNvSpPr/>
          <p:nvPr/>
        </p:nvSpPr>
        <p:spPr>
          <a:xfrm>
            <a:off x="900000" y="2770000"/>
            <a:ext cx="1900000" cy="90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Main Agent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讀 diff / PR context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決定派工策略</a:t>
            </a:r>
          </a:p>
        </p:txBody>
      </p:sp>
      <p:sp>
        <p:nvSpPr>
          <p:cNvPr id="7" name="Merge"/>
          <p:cNvSpPr/>
          <p:nvPr/>
        </p:nvSpPr>
        <p:spPr>
          <a:xfrm>
            <a:off x="9500000" y="2770000"/>
            <a:ext cx="190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Merge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排序 findings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產生 PR comments</a:t>
            </a:r>
          </a:p>
        </p:txBody>
      </p:sp>
      <p:sp>
        <p:nvSpPr>
          <p:cNvPr id="10" name="comment-analyzer"/>
          <p:cNvSpPr/>
          <p:nvPr/>
        </p:nvSpPr>
        <p:spPr>
          <a:xfrm>
            <a:off x="4300000" y="1700000"/>
            <a:ext cx="2100000" cy="570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comment-analyzer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註解準確性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避免 misleading comments</a:t>
            </a:r>
          </a:p>
        </p:txBody>
      </p:sp>
      <p:sp>
        <p:nvSpPr>
          <p:cNvPr id="11" name="pr-test-analyzer"/>
          <p:cNvSpPr/>
          <p:nvPr/>
        </p:nvSpPr>
        <p:spPr>
          <a:xfrm>
            <a:off x="4300000" y="2380000"/>
            <a:ext cx="2100000" cy="5700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2E9E6E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pr-test-analyzer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test coverage gaps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happy path + edge cases</a:t>
            </a:r>
          </a:p>
        </p:txBody>
      </p:sp>
      <p:sp>
        <p:nvSpPr>
          <p:cNvPr id="12" name="silent-failure-hunter"/>
          <p:cNvSpPr/>
          <p:nvPr/>
        </p:nvSpPr>
        <p:spPr>
          <a:xfrm>
            <a:off x="4300000" y="3060000"/>
            <a:ext cx="2100000" cy="57000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silent-failure-hunter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例外路徑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避免 silent failure</a:t>
            </a:r>
          </a:p>
        </p:txBody>
      </p:sp>
      <p:sp>
        <p:nvSpPr>
          <p:cNvPr id="13" name="type-design-analyzer"/>
          <p:cNvSpPr/>
          <p:nvPr/>
        </p:nvSpPr>
        <p:spPr>
          <a:xfrm>
            <a:off x="4300000" y="3740000"/>
            <a:ext cx="2100000" cy="570000"/>
          </a:xfrm>
          <a:prstGeom prst="roundRect">
            <a:avLst/>
          </a:prstGeom>
          <a:solidFill>
            <a:srgbClr val="F5EEFF"/>
          </a:solidFill>
          <a:ln w="12700">
            <a:solidFill>
              <a:srgbClr val="8B5CF6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type-design-analyzer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type design quality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API contract / schema drift</a:t>
            </a:r>
          </a:p>
        </p:txBody>
      </p:sp>
      <p:sp>
        <p:nvSpPr>
          <p:cNvPr id="14" name="code-reviewer"/>
          <p:cNvSpPr/>
          <p:nvPr/>
        </p:nvSpPr>
        <p:spPr>
          <a:xfrm>
            <a:off x="4300000" y="4420000"/>
            <a:ext cx="2100000" cy="57000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5A6178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code-reviewer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CLAUDE.md / style / bugs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一般 code quality</a:t>
            </a:r>
          </a:p>
        </p:txBody>
      </p:sp>
      <p:sp>
        <p:nvSpPr>
          <p:cNvPr id="15" name="code-simplifier"/>
          <p:cNvSpPr/>
          <p:nvPr/>
        </p:nvSpPr>
        <p:spPr>
          <a:xfrm>
            <a:off x="4300000" y="5100000"/>
            <a:ext cx="2100000" cy="57000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D6A100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code-simplifier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clarity / complexity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避免 over-engineering</a:t>
            </a:r>
          </a:p>
        </p:txBody>
      </p:sp>
      <p:cxnSp>
        <p:nvCxnSpPr>
          <p:cNvPr id="30" name="user to main"/>
          <p:cNvCxnSpPr/>
          <p:nvPr/>
        </p:nvCxnSpPr>
        <p:spPr>
          <a:xfrm>
            <a:off x="1860000" y="2400000"/>
            <a:ext cx="1" cy="370000"/>
          </a:xfrm>
          <a:prstGeom prst="straightConnector1">
            <a:avLst/>
          </a:prstGeom>
          <a:ln w="12700">
            <a:solidFill>
              <a:srgbClr val="5A6178"/>
            </a:solidFill>
            <a:headEnd type="triangle"/>
          </a:ln>
        </p:spPr>
      </p:cxnSp>
      <p:cxnSp>
        <p:nvCxnSpPr>
          <p:cNvPr id="31" name="main to bus"/>
          <p:cNvCxnSpPr/>
          <p:nvPr/>
        </p:nvCxnSpPr>
        <p:spPr>
          <a:xfrm>
            <a:off x="2800000" y="3220000"/>
            <a:ext cx="650000" cy="1"/>
          </a:xfrm>
          <a:prstGeom prst="straightConnector1">
            <a:avLst/>
          </a:prstGeom>
          <a:ln w="15240">
            <a:solidFill>
              <a:srgbClr val="5A6178"/>
            </a:solidFill>
            <a:headEnd type="triangle"/>
          </a:ln>
        </p:spPr>
      </p:cxnSp>
      <p:cxnSp>
        <p:nvCxnSpPr>
          <p:cNvPr id="32" name="dispatch bus"/>
          <p:cNvCxnSpPr/>
          <p:nvPr/>
        </p:nvCxnSpPr>
        <p:spPr>
          <a:xfrm>
            <a:off x="3450000" y="1985000"/>
            <a:ext cx="1" cy="3400000"/>
          </a:xfrm>
          <a:prstGeom prst="straightConnector1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33" name="bus to agent 0"/>
          <p:cNvCxnSpPr/>
          <p:nvPr/>
        </p:nvCxnSpPr>
        <p:spPr>
          <a:xfrm>
            <a:off x="3450000" y="198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4" name="bus to agent 1"/>
          <p:cNvCxnSpPr/>
          <p:nvPr/>
        </p:nvCxnSpPr>
        <p:spPr>
          <a:xfrm>
            <a:off x="3450000" y="266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5" name="bus to agent 2"/>
          <p:cNvCxnSpPr/>
          <p:nvPr/>
        </p:nvCxnSpPr>
        <p:spPr>
          <a:xfrm>
            <a:off x="3450000" y="334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6" name="bus to agent 3"/>
          <p:cNvCxnSpPr/>
          <p:nvPr/>
        </p:nvCxnSpPr>
        <p:spPr>
          <a:xfrm>
            <a:off x="3450000" y="402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7" name="bus to agent 4"/>
          <p:cNvCxnSpPr/>
          <p:nvPr/>
        </p:nvCxnSpPr>
        <p:spPr>
          <a:xfrm>
            <a:off x="3450000" y="470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8" name="bus to agent 5"/>
          <p:cNvCxnSpPr/>
          <p:nvPr/>
        </p:nvCxnSpPr>
        <p:spPr>
          <a:xfrm>
            <a:off x="3450000" y="538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9" name="merge bus"/>
          <p:cNvCxnSpPr/>
          <p:nvPr/>
        </p:nvCxnSpPr>
        <p:spPr>
          <a:xfrm>
            <a:off x="8350000" y="1985000"/>
            <a:ext cx="1" cy="3400000"/>
          </a:xfrm>
          <a:prstGeom prst="straightConnector1">
            <a:avLst/>
          </a:prstGeom>
          <a:ln w="19050">
            <a:solidFill>
              <a:srgbClr val="FF8A3D"/>
            </a:solidFill>
          </a:ln>
        </p:spPr>
      </p:cxnSp>
      <p:cxnSp>
        <p:nvCxnSpPr>
          <p:cNvPr id="40" name="agent 0 to mergebus"/>
          <p:cNvCxnSpPr/>
          <p:nvPr/>
        </p:nvCxnSpPr>
        <p:spPr>
          <a:xfrm>
            <a:off x="6400000" y="198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1" name="agent 1 to mergebus"/>
          <p:cNvCxnSpPr/>
          <p:nvPr/>
        </p:nvCxnSpPr>
        <p:spPr>
          <a:xfrm>
            <a:off x="6400000" y="266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2" name="agent 2 to mergebus"/>
          <p:cNvCxnSpPr/>
          <p:nvPr/>
        </p:nvCxnSpPr>
        <p:spPr>
          <a:xfrm>
            <a:off x="6400000" y="334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3" name="agent 3 to mergebus"/>
          <p:cNvCxnSpPr/>
          <p:nvPr/>
        </p:nvCxnSpPr>
        <p:spPr>
          <a:xfrm>
            <a:off x="6400000" y="402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4" name="agent 4 to mergebus"/>
          <p:cNvCxnSpPr/>
          <p:nvPr/>
        </p:nvCxnSpPr>
        <p:spPr>
          <a:xfrm>
            <a:off x="6400000" y="470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5" name="agent 5 to mergebus"/>
          <p:cNvCxnSpPr/>
          <p:nvPr/>
        </p:nvCxnSpPr>
        <p:spPr>
          <a:xfrm>
            <a:off x="6400000" y="538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6" name="mergebus to merge"/>
          <p:cNvCxnSpPr/>
          <p:nvPr/>
        </p:nvCxnSpPr>
        <p:spPr>
          <a:xfrm>
            <a:off x="8350000" y="3220000"/>
            <a:ext cx="1150000" cy="1"/>
          </a:xfrm>
          <a:prstGeom prst="straightConnector1">
            <a:avLst/>
          </a:prstGeom>
          <a:ln w="15240">
            <a:solidFill>
              <a:srgbClr val="5A6178"/>
            </a:solidFill>
            <a:headEnd type="triangle"/>
          </a:ln>
        </p:spPr>
      </p:cxnSp>
      <p:sp>
        <p:nvSpPr>
          <p:cNvPr id="70" name="Dispatch label"/>
          <p:cNvSpPr/>
          <p:nvPr/>
        </p:nvSpPr>
        <p:spPr>
          <a:xfrm>
            <a:off x="2950000" y="1980000"/>
            <a:ext cx="95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E2761"/>
                </a:solidFill>
                <a:latin typeface="Calibri"/>
                <a:ea typeface="Microsoft JhengHei"/>
                <a:cs typeface="Calibri"/>
              </a:rPr>
              <a:t>dispatch</a:t>
            </a:r>
          </a:p>
        </p:txBody>
      </p:sp>
      <p:sp>
        <p:nvSpPr>
          <p:cNvPr id="71" name="Parallel label"/>
          <p:cNvSpPr/>
          <p:nvPr/>
        </p:nvSpPr>
        <p:spPr>
          <a:xfrm>
            <a:off x="4950000" y="1230000"/>
            <a:ext cx="2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TW" sz="1100" b="1" dirty="0">
                <a:solidFill>
                  <a:srgbClr val="1E2761"/>
                </a:solidFill>
                <a:latin typeface="Calibri"/>
                <a:ea typeface="Microsoft JhengHei"/>
                <a:cs typeface="Calibri"/>
              </a:rPr>
              <a:t>parallel specialist review</a:t>
            </a:r>
          </a:p>
        </p:txBody>
      </p:sp>
      <p:sp>
        <p:nvSpPr>
          <p:cNvPr id="72" name="Merge label"/>
          <p:cNvSpPr/>
          <p:nvPr/>
        </p:nvSpPr>
        <p:spPr>
          <a:xfrm>
            <a:off x="8050000" y="1980000"/>
            <a:ext cx="95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merge</a:t>
            </a:r>
          </a:p>
        </p:txBody>
      </p:sp>
      <p:sp>
        <p:nvSpPr>
          <p:cNvPr id="73" name="Note"/>
          <p:cNvSpPr/>
          <p:nvPr/>
        </p:nvSpPr>
        <p:spPr>
          <a:xfrm>
            <a:off x="457200" y="6060000"/>
            <a:ext cx="11247120" cy="52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重點: subagents 各自探索 / 判斷，主 agent 只拿摘要整合；適合 review、測試補強、安全檢查、跨模組研究。</a:t>
            </a:r>
          </a:p>
        </p:txBody>
      </p:sp>
      <p:sp>
        <p:nvSpPr>
          <p:cNvPr id="80" name="Footer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zh-TW" sz="9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19 / 27</a:t>
            </a:r>
          </a:p>
        </p:txBody>
      </p:sp>
      <p:sp>
        <p:nvSpPr>
          <p:cNvPr id="81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2"/>
              </a:rPr>
              <a:t>Docs: PR Review Toolkit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aude print mode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/>
          <p:nvPr/>
        </p:nvSpPr>
        <p:spPr>
          <a:xfrm>
            <a:off x="457200" y="411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CHAPTER 03 · AUTOMATION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777240"/>
            <a:ext cx="11247120" cy="5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zh-TW" sz="28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claude -p — 非互動模式，把 Claude Code 放進自動化流程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1341120"/>
            <a:ext cx="11247120" cy="3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zh-TW" sz="12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Print mode: 從 shell / CI / script 呼叫 Claude，輸入 prompt，輸出文字或 JSON，不需要打開互動式 UI。</a:t>
            </a:r>
          </a:p>
        </p:txBody>
      </p:sp>
      <p:sp>
        <p:nvSpPr>
          <p:cNvPr id="5" name="Code block"/>
          <p:cNvSpPr/>
          <p:nvPr/>
        </p:nvSpPr>
        <p:spPr>
          <a:xfrm>
            <a:off x="640080" y="1900000"/>
            <a:ext cx="5600000" cy="1900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zh-TW" sz="105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# 每天早上產生昨日變更摘要</a:t>
            </a:r>
          </a:p>
          <a:p>
            <a:pPr marL="0" indent="0" algn="l">
              <a:buNone/>
            </a:pPr>
            <a:r>
              <a:rPr lang="zh-TW" sz="105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git log --since="yesterday" --stat | \</a:t>
            </a:r>
          </a:p>
          <a:p>
            <a:pPr marL="0" indent="0" algn="l">
              <a:buNone/>
            </a:pPr>
            <a:r>
              <a:rPr lang="zh-TW" sz="105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claude -p "請整理成團隊 standup update:</a:t>
            </a:r>
          </a:p>
          <a:p>
            <a:pPr marL="0" indent="0" algn="l">
              <a:buNone/>
            </a:pPr>
            <a:r>
              <a:rPr lang="zh-TW" sz="105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1. 完成項目</a:t>
            </a:r>
          </a:p>
          <a:p>
            <a:pPr marL="0" indent="0" algn="l">
              <a:buNone/>
            </a:pPr>
            <a:r>
              <a:rPr lang="zh-TW" sz="105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2. 風險 / blocker</a:t>
            </a:r>
          </a:p>
          <a:p>
            <a:pPr marL="0" indent="0" algn="l">
              <a:buNone/>
            </a:pPr>
            <a:r>
              <a:rPr lang="zh-TW" sz="1050" dirty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  3. 今天建議 follow-up"</a:t>
            </a:r>
          </a:p>
        </p:txBody>
      </p:sp>
      <p:sp>
        <p:nvSpPr>
          <p:cNvPr id="6" name="Input"/>
          <p:cNvSpPr/>
          <p:nvPr/>
        </p:nvSpPr>
        <p:spPr>
          <a:xfrm>
            <a:off x="6800000" y="1900000"/>
            <a:ext cx="1900000" cy="8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8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Input</a:t>
            </a:r>
          </a:p>
          <a:p>
            <a:pPr marL="0" indent="0" algn="l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git log / diff / test output</a:t>
            </a:r>
          </a:p>
          <a:p>
            <a:pPr marL="0" indent="0" algn="l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任何 CLI 可產出的文字</a:t>
            </a:r>
          </a:p>
        </p:txBody>
      </p:sp>
      <p:sp>
        <p:nvSpPr>
          <p:cNvPr id="7" name="Claude"/>
          <p:cNvSpPr/>
          <p:nvPr/>
        </p:nvSpPr>
        <p:spPr>
          <a:xfrm>
            <a:off x="9000000" y="1900000"/>
            <a:ext cx="1900000" cy="8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8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claude -p</a:t>
            </a:r>
          </a:p>
          <a:p>
            <a:pPr marL="0" indent="0" algn="l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非互動式分析</a:t>
            </a:r>
          </a:p>
          <a:p>
            <a:pPr marL="0" indent="0" algn="l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可指定 prompt / model</a:t>
            </a:r>
          </a:p>
        </p:txBody>
      </p:sp>
      <p:sp>
        <p:nvSpPr>
          <p:cNvPr id="8" name="Output"/>
          <p:cNvSpPr/>
          <p:nvPr/>
        </p:nvSpPr>
        <p:spPr>
          <a:xfrm>
            <a:off x="6800000" y="3140000"/>
            <a:ext cx="1900000" cy="8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8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Output</a:t>
            </a:r>
          </a:p>
          <a:p>
            <a:pPr marL="0" indent="0" algn="l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Markdown report</a:t>
            </a:r>
          </a:p>
          <a:p>
            <a:pPr marL="0" indent="0" algn="l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JSON / release note / PR summary</a:t>
            </a:r>
          </a:p>
        </p:txBody>
      </p:sp>
      <p:sp>
        <p:nvSpPr>
          <p:cNvPr id="9" name="Use cases"/>
          <p:cNvSpPr/>
          <p:nvPr/>
        </p:nvSpPr>
        <p:spPr>
          <a:xfrm>
            <a:off x="9000000" y="3140000"/>
            <a:ext cx="1900000" cy="8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8"/>
            </a:solidFill>
          </a:ln>
        </p:spPr>
        <p:txBody>
          <a:bodyPr wrap="square" lIns="137160" tIns="91440" rIns="137160" bIns="9144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常見用途</a:t>
            </a:r>
          </a:p>
          <a:p>
            <a:pPr marL="0" indent="0" algn="l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CI 失敗摘要</a:t>
            </a:r>
          </a:p>
          <a:p>
            <a:pPr marL="0" indent="0" algn="l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Release notes</a:t>
            </a:r>
          </a:p>
          <a:p>
            <a:pPr marL="0" indent="0" algn="l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PR review checklist</a:t>
            </a:r>
          </a:p>
        </p:txBody>
      </p:sp>
      <p:cxnSp>
        <p:nvCxnSpPr>
          <p:cNvPr id="10" name="input to claude"/>
          <p:cNvCxnSpPr/>
          <p:nvPr/>
        </p:nvCxnSpPr>
        <p:spPr>
          <a:xfrm>
            <a:off x="8700000" y="2335000"/>
            <a:ext cx="300000" cy="1"/>
          </a:xfrm>
          <a:prstGeom prst="straightConnector1">
            <a:avLst/>
          </a:prstGeom>
          <a:ln w="19050">
            <a:solidFill>
              <a:srgbClr val="5A6178"/>
            </a:solidFill>
            <a:headEnd type="triangle"/>
          </a:ln>
        </p:spPr>
      </p:cxnSp>
      <p:cxnSp>
        <p:nvCxnSpPr>
          <p:cNvPr id="11" name="claude to output"/>
          <p:cNvCxnSpPr/>
          <p:nvPr/>
        </p:nvCxnSpPr>
        <p:spPr>
          <a:xfrm flipH="1">
            <a:off x="7750000" y="2770000"/>
            <a:ext cx="2200000" cy="370000"/>
          </a:xfrm>
          <a:prstGeom prst="straightConnector1">
            <a:avLst/>
          </a:prstGeom>
          <a:ln w="19050">
            <a:solidFill>
              <a:srgbClr val="5A6178"/>
            </a:solidFill>
            <a:headEnd type="triangle"/>
          </a:ln>
        </p:spPr>
      </p:cxnSp>
      <p:sp>
        <p:nvSpPr>
          <p:cNvPr id="12" name="Note"/>
          <p:cNvSpPr/>
          <p:nvPr/>
        </p:nvSpPr>
        <p:spPr>
          <a:xfrm>
            <a:off x="777240" y="5080000"/>
            <a:ext cx="10600000" cy="700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350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重點: claude -p 適合「有固定輸入 / 固定輸出格式」的工作；危險動作仍要搭配 permissions、sandbox、CI 權限控管。</a:t>
            </a:r>
          </a:p>
        </p:txBody>
      </p:sp>
      <p:sp>
        <p:nvSpPr>
          <p:cNvPr id="13" name="Footer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r">
              <a:buNone/>
            </a:pPr>
            <a:r>
              <a:rPr lang="zh-TW" sz="9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8 / 27</a:t>
            </a:r>
          </a:p>
        </p:txBody>
      </p:sp>
      <p:sp>
        <p:nvSpPr>
          <p:cNvPr id="14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cs typeface="Calibri"/>
                <a:u/>
                <a:hlinkClick r:id="rId2"/>
              </a:rPr>
              <a:t>Docs: CLI reference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 memory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/>
          <p:nvPr/>
        </p:nvSpPr>
        <p:spPr>
          <a:xfrm>
            <a:off x="457200" y="411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CHAPTER 04 · AUTO MEMORY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777240"/>
            <a:ext cx="1124712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29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Auto Memory — Claude 自己累積跨 session 學習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1341120"/>
            <a:ext cx="1124712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Auto Memory 是 Claude 寫給自己的本機筆記，用來記住 debug insights、build commands、架構慣例與你的偏好。</a:t>
            </a:r>
          </a:p>
        </p:txBody>
      </p:sp>
      <p:sp>
        <p:nvSpPr>
          <p:cNvPr id="5" name="discover"/>
          <p:cNvSpPr/>
          <p:nvPr/>
        </p:nvSpPr>
        <p:spPr>
          <a:xfrm>
            <a:off x="700000" y="2050000"/>
            <a:ext cx="2300000" cy="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1. Discover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Claude 從你的 correction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與工作過程判斷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什麼值得記住</a:t>
            </a:r>
          </a:p>
        </p:txBody>
      </p:sp>
      <p:sp>
        <p:nvSpPr>
          <p:cNvPr id="6" name="write"/>
          <p:cNvSpPr/>
          <p:nvPr/>
        </p:nvSpPr>
        <p:spPr>
          <a:xfrm>
            <a:off x="3550000" y="2050000"/>
            <a:ext cx="2300000" cy="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E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2. Write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寫到本機 memory dir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~/.claude/projects/&lt;project&gt;/memory/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MEMORY.md + topic files</a:t>
            </a:r>
          </a:p>
        </p:txBody>
      </p:sp>
      <p:sp>
        <p:nvSpPr>
          <p:cNvPr id="7" name="load"/>
          <p:cNvSpPr/>
          <p:nvPr/>
        </p:nvSpPr>
        <p:spPr>
          <a:xfrm>
            <a:off x="6400000" y="2050000"/>
            <a:ext cx="2300000" cy="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3. Load next session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每次啟動載入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MEMORY.md 前 200 行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或前 25KB</a:t>
            </a:r>
          </a:p>
        </p:txBody>
      </p:sp>
      <p:sp>
        <p:nvSpPr>
          <p:cNvPr id="8" name="audit"/>
          <p:cNvSpPr/>
          <p:nvPr/>
        </p:nvSpPr>
        <p:spPr>
          <a:xfrm>
            <a:off x="9250000" y="2050000"/>
            <a:ext cx="2300000" cy="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4. Audit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用 /memory 檢視與編輯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可關閉 auto memory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autoMemoryEnabled=false</a:t>
            </a:r>
          </a:p>
        </p:txBody>
      </p:sp>
      <p:cxnSp>
        <p:nvCxnSpPr>
          <p:cNvPr id="9" name="l1"/>
          <p:cNvCxnSpPr/>
          <p:nvPr/>
        </p:nvCxnSpPr>
        <p:spPr>
          <a:xfrm>
            <a:off x="3000000" y="2525000"/>
            <a:ext cx="550000" cy="1"/>
          </a:xfrm>
          <a:prstGeom prst="straightConnector1">
            <a:avLst/>
          </a:prstGeom>
          <a:ln w="12700">
            <a:solidFill>
              <a:srgbClr val="5A6178"/>
            </a:solidFill>
            <a:headEnd type="triangle"/>
          </a:ln>
        </p:spPr>
      </p:cxnSp>
      <p:cxnSp>
        <p:nvCxnSpPr>
          <p:cNvPr id="10" name="l2"/>
          <p:cNvCxnSpPr/>
          <p:nvPr/>
        </p:nvCxnSpPr>
        <p:spPr>
          <a:xfrm>
            <a:off x="5850000" y="2525000"/>
            <a:ext cx="550000" cy="1"/>
          </a:xfrm>
          <a:prstGeom prst="straightConnector1">
            <a:avLst/>
          </a:prstGeom>
          <a:ln w="12700">
            <a:solidFill>
              <a:srgbClr val="5A6178"/>
            </a:solidFill>
            <a:headEnd type="triangle"/>
          </a:ln>
        </p:spPr>
      </p:cxnSp>
      <p:cxnSp>
        <p:nvCxnSpPr>
          <p:cNvPr id="11" name="l3"/>
          <p:cNvCxnSpPr/>
          <p:nvPr/>
        </p:nvCxnSpPr>
        <p:spPr>
          <a:xfrm>
            <a:off x="8700000" y="2525000"/>
            <a:ext cx="550000" cy="1"/>
          </a:xfrm>
          <a:prstGeom prst="straightConnector1">
            <a:avLst/>
          </a:prstGeom>
          <a:ln w="12700">
            <a:solidFill>
              <a:srgbClr val="5A6178"/>
            </a:solidFill>
            <a:headEnd type="triangle"/>
          </a:ln>
        </p:spPr>
      </p:cxnSp>
      <p:sp>
        <p:nvSpPr>
          <p:cNvPr id="12" name="scope"/>
          <p:cNvSpPr/>
          <p:nvPr/>
        </p:nvSpPr>
        <p:spPr>
          <a:xfrm>
            <a:off x="700000" y="3680000"/>
            <a:ext cx="3300000" cy="950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Scope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Per working tree / git repo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本機保存, 不跨機器共享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Subagents 也可有自己的 auto memory</a:t>
            </a:r>
          </a:p>
        </p:txBody>
      </p:sp>
      <p:sp>
        <p:nvSpPr>
          <p:cNvPr id="13" name="not"/>
          <p:cNvSpPr/>
          <p:nvPr/>
        </p:nvSpPr>
        <p:spPr>
          <a:xfrm>
            <a:off x="4650000" y="3680000"/>
            <a:ext cx="3300000" cy="95000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不是什麼?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不是 CLAUDE.md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不是團隊共用規範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也不是 hard enforcement</a:t>
            </a:r>
          </a:p>
        </p:txBody>
      </p:sp>
      <p:sp>
        <p:nvSpPr>
          <p:cNvPr id="14" name="when"/>
          <p:cNvSpPr/>
          <p:nvPr/>
        </p:nvSpPr>
        <p:spPr>
          <a:xfrm>
            <a:off x="8600000" y="3680000"/>
            <a:ext cx="3300000" cy="9500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2E9E6E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何時有用?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常見 build/test 指令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debugging patterns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你反覆修正過的偏好</a:t>
            </a:r>
          </a:p>
        </p:txBody>
      </p:sp>
      <p:sp>
        <p:nvSpPr>
          <p:cNvPr id="15" name="note"/>
          <p:cNvSpPr/>
          <p:nvPr/>
        </p:nvSpPr>
        <p:spPr>
          <a:xfrm>
            <a:off x="457200" y="5920000"/>
            <a:ext cx="11247120" cy="52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講法: CLAUDE.md 是「你寫給 Claude 的規則」；Auto Memory 是「Claude 在工作中替自己做的筆記」。兩者都在 session 開始載入, 都是 context。</a:t>
            </a:r>
          </a:p>
          <a:p>
            <a:pPr marL="0" indent="0" algn="ctr">
              <a:buNone/>
            </a:pPr>
            <a:r>
              <a:rPr lang="zh-TW" sz="95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/>
            </a:r>
          </a:p>
        </p:txBody>
      </p:sp>
      <p:sp>
        <p:nvSpPr>
          <p:cNvPr id="16" name="footer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zh-TW" sz="9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14 / 27</a:t>
            </a:r>
          </a:p>
        </p:txBody>
      </p:sp>
      <p:sp>
        <p:nvSpPr>
          <p:cNvPr id="17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u/>
                <a:hlinkClick r:id="rId2"/>
              </a:rPr>
              <a:t>Docs: Memory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ok methods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/>
          <p:nvPr/>
        </p:nvSpPr>
        <p:spPr>
          <a:xfrm>
            <a:off x="457200" y="411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CHAPTER 07 · HOOKS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777240"/>
            <a:ext cx="1124712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29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Hooks 可以怎麼寫? — 官方支援的幾種做法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1341120"/>
            <a:ext cx="1124712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Hooks 不只是一段 shell script；可以放在 settings、plugin、skill、agent 中，並用 matcher / if / JSON output 控制行為。</a:t>
            </a:r>
          </a:p>
        </p:txBody>
      </p:sp>
      <p:sp>
        <p:nvSpPr>
          <p:cNvPr id="10" name="method0"/>
          <p:cNvSpPr/>
          <p:nvPr/>
        </p:nvSpPr>
        <p:spPr>
          <a:xfrm>
            <a:off x="640000" y="1900000"/>
            <a:ext cx="3200000" cy="10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1. Command handler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最常用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跑 shell / PowerShell script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讀 stdin JSON, 回傳 exit code</a:t>
            </a:r>
          </a:p>
        </p:txBody>
      </p:sp>
      <p:sp>
        <p:nvSpPr>
          <p:cNvPr id="11" name="method1"/>
          <p:cNvSpPr/>
          <p:nvPr/>
        </p:nvSpPr>
        <p:spPr>
          <a:xfrm>
            <a:off x="4450000" y="1900000"/>
            <a:ext cx="3200000" cy="10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E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2. HTTP handler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POST hook payload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送到內部 service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做 audit / policy / notification</a:t>
            </a:r>
          </a:p>
        </p:txBody>
      </p:sp>
      <p:sp>
        <p:nvSpPr>
          <p:cNvPr id="12" name="method2"/>
          <p:cNvSpPr/>
          <p:nvPr/>
        </p:nvSpPr>
        <p:spPr>
          <a:xfrm>
            <a:off x="8250000" y="1900000"/>
            <a:ext cx="3200000" cy="10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3. Prompt handler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用小模型做 yes/no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適合語意判斷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例如 secret / unsafe change</a:t>
            </a:r>
          </a:p>
        </p:txBody>
      </p:sp>
      <p:sp>
        <p:nvSpPr>
          <p:cNvPr id="13" name="method3"/>
          <p:cNvSpPr/>
          <p:nvPr/>
        </p:nvSpPr>
        <p:spPr>
          <a:xfrm>
            <a:off x="640000" y="3400000"/>
            <a:ext cx="3200000" cy="10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4. Agent handler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啟動 subagent 驗證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例如 security-reviewer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或 test-reviewer</a:t>
            </a:r>
          </a:p>
        </p:txBody>
      </p:sp>
      <p:sp>
        <p:nvSpPr>
          <p:cNvPr id="14" name="method4"/>
          <p:cNvSpPr/>
          <p:nvPr/>
        </p:nvSpPr>
        <p:spPr>
          <a:xfrm>
            <a:off x="4450000" y="3400000"/>
            <a:ext cx="3200000" cy="10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178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5. matcher + if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matcher 選 tool/event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if 做條件過濾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可限制檔案類型 / command</a:t>
            </a:r>
          </a:p>
        </p:txBody>
      </p:sp>
      <p:sp>
        <p:nvSpPr>
          <p:cNvPr id="15" name="method5"/>
          <p:cNvSpPr/>
          <p:nvPr/>
        </p:nvSpPr>
        <p:spPr>
          <a:xfrm>
            <a:off x="8250000" y="3400000"/>
            <a:ext cx="3200000" cy="10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A100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6. async / plugin hooks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非阻塞背景工作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hooks 可由 plugin/skill/agent 提供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團隊打包分發</a:t>
            </a:r>
          </a:p>
        </p:txBody>
      </p:sp>
      <p:sp>
        <p:nvSpPr>
          <p:cNvPr id="30" name="note"/>
          <p:cNvSpPr/>
          <p:nvPr/>
        </p:nvSpPr>
        <p:spPr>
          <a:xfrm>
            <a:off x="457200" y="5920000"/>
            <a:ext cx="11247120" cy="52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12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設計原則</a:t>
            </a:r>
          </a:p>
          <a:p>
            <a:pPr marL="0" indent="0" algn="ctr">
              <a:buNone/>
            </a:pPr>
            <a:r>
              <a:rPr lang="zh-TW" sz="880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把 deterministic 檢查交給 hooks；把需要推理的檢查交給 prompt / agent handler；危險操作要用 permissions + hooks 雙層控管。</a:t>
            </a:r>
          </a:p>
        </p:txBody>
      </p:sp>
      <p:sp>
        <p:nvSpPr>
          <p:cNvPr id="31" name="footer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zh-TW" sz="9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21 / 27</a:t>
            </a:r>
          </a:p>
        </p:txBody>
      </p:sp>
      <p:sp>
        <p:nvSpPr>
          <p:cNvPr id="32" name="Docs link"/>
          <p:cNvSpPr/>
          <p:nvPr/>
        </p:nvSpPr>
        <p:spPr>
          <a:xfrm>
            <a:off x="457200" y="6537960"/>
            <a:ext cx="62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FF9"/>
                </a:solidFill>
                <a:latin typeface="Calibri"/>
                <a:ea typeface="Microsoft JhengHei"/>
                <a:u/>
                <a:hlinkClick r:id="rId2"/>
              </a:rPr>
              <a:t>Docs: Hooks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2695</Words>
  <Application>Microsoft Office PowerPoint</Application>
  <PresentationFormat>寬螢幕</PresentationFormat>
  <Paragraphs>673</Paragraphs>
  <Slides>27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jinmin liu</cp:lastModifiedBy>
  <cp:revision>8</cp:revision>
  <dcterms:created xsi:type="dcterms:W3CDTF">2026-04-15T14:27:21Z</dcterms:created>
  <dcterms:modified xsi:type="dcterms:W3CDTF">2026-04-15T15:22:45Z</dcterms:modified>
</cp:coreProperties>
</file>